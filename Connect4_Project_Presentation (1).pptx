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142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https://connect4.gamesolver.org/image?pos=null (board image)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https://connect4.gamesolver.org/ (mentions use of alpha-beta pruning for Connect 4 solving)
- https://en.wikipedia.org/wiki/Minimax (background on minimax)
- https://en.wikipedia.org/wiki/Alpha%E2%80%93beta_pruning (background on alpha-beta pruning)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8668" cy="96012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pPr algn="r"/>
            <a:endParaRPr lang="he-IL" dirty="0"/>
          </a:p>
          <a:p>
            <a:pPr algn="ctr"/>
            <a:r>
              <a:rPr lang="he-IL" dirty="0">
                <a:solidFill>
                  <a:schemeClr val="bg1">
                    <a:lumMod val="85000"/>
                  </a:schemeClr>
                </a:solidFill>
              </a:rPr>
              <a:t>מגישה: אודליה </a:t>
            </a:r>
            <a:r>
              <a:rPr lang="he-IL" dirty="0" err="1">
                <a:solidFill>
                  <a:schemeClr val="bg1">
                    <a:lumMod val="85000"/>
                  </a:schemeClr>
                </a:solidFill>
              </a:rPr>
              <a:t>דטסקי</a:t>
            </a:r>
            <a:endParaRPr lang="he-IL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endParaRPr lang="he-I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A3A6B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מסכם: 4 בשורה (Connect 4)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806440" cy="5137972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יש בפרויקט?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48840"/>
            <a:ext cx="5166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שחקן מול שחקן (PvP)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שחקן מול מחשב (PvC) — 3 רמות קושי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הטלת דיסק “עם כבידה” לעמודה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ניצחון: אופקי / אנכי / אלכסונים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סטטיסטיקות (משחקים, ניצחונות, תיקו)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ולידציה לקלט לא תקין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828032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99516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משחק 7×6</a:t>
            </a:r>
            <a:endParaRPr lang="en-US" sz="2200" dirty="0"/>
          </a:p>
        </p:txBody>
      </p:sp>
      <p:pic>
        <p:nvPicPr>
          <p:cNvPr id="12" name="Image 0" descr="/mnt/data/connect4_bl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1031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A3A6B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דרישות עיקריות וזרימת משתמש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המשתמש רואה מהרגע שמריצים את התוכנית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440680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תפריט ראשי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48840"/>
            <a:ext cx="4800600" cy="1798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l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Player vs Player</a:t>
            </a:r>
            <a:endParaRPr lang="en-US" sz="2000" dirty="0"/>
          </a:p>
          <a:p>
            <a:pPr marL="279400" indent="-279400" algn="l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Player vs Computer</a:t>
            </a:r>
            <a:endParaRPr lang="en-US" sz="2000" dirty="0"/>
          </a:p>
          <a:p>
            <a:pPr marL="279400" indent="-279400" algn="l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Show Statistics</a:t>
            </a:r>
            <a:endParaRPr lang="en-US" sz="2000" dirty="0"/>
          </a:p>
          <a:p>
            <a:pPr marL="279400" indent="-279400" algn="l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0) Exit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285232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כללי משחק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48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בחירת עמודה 1–7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דיסק נופל לתא הפנוי הנמוך ביותר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ניצחון: 4 ברצף (כולל אלכסונים)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תיקו: הלוח מלא בלי מנצח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קלט לא תקין → הודעה ובקשה חוזרת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A3A6B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קבצים ומודולריות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חילקתי את הקוד כדי ש-main יישאר נקי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474720" cy="4297680"/>
          </a:xfrm>
          <a:prstGeom prst="roundRect">
            <a:avLst/>
          </a:prstGeom>
          <a:solidFill>
            <a:srgbClr val="14214A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51760"/>
            <a:ext cx="301752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תפריט ראשי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ולידציה לקלט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לולאת משחק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עדכון סטטיסטיקות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3474720" cy="4297680"/>
          </a:xfrm>
          <a:prstGeom prst="roundRect">
            <a:avLst/>
          </a:prstGeom>
          <a:solidFill>
            <a:srgbClr val="14203B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game.c / game.h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651760"/>
            <a:ext cx="301752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char[6][7]</a:t>
            </a:r>
            <a:endParaRPr lang="en-US" sz="1600" dirty="0"/>
          </a:p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initBoard / printBoard</a:t>
            </a:r>
            <a:endParaRPr lang="en-US" sz="1600" dirty="0"/>
          </a:p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dropDisc + בדיקות חוקיות</a:t>
            </a:r>
            <a:endParaRPr lang="en-US" sz="1600" dirty="0"/>
          </a:p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checkWin / isBoardFull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49640" y="1874520"/>
            <a:ext cx="3474720" cy="4297680"/>
          </a:xfrm>
          <a:prstGeom prst="roundRect">
            <a:avLst/>
          </a:prstGeom>
          <a:solidFill>
            <a:srgbClr val="14203B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ai.c / ai.h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651760"/>
            <a:ext cx="301752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Easy: random</a:t>
            </a:r>
            <a:endParaRPr lang="en-US" sz="1600" dirty="0"/>
          </a:p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win/block + center</a:t>
            </a:r>
            <a:endParaRPr lang="en-US" sz="1600" dirty="0"/>
          </a:p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Hard: minimax + pruning</a:t>
            </a:r>
            <a:endParaRPr lang="en-US" sz="1600" dirty="0"/>
          </a:p>
          <a:p>
            <a:pPr marL="223520" indent="-22352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בחירת עמודה 0..6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A3A6B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ייצוג הלוח והטלת דיסק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החלק הכי קריטי: “כבידה” + בדיקת עמודה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806440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ייצוג לוח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48840"/>
            <a:ext cx="5166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board[ROWS][COLS] (ROWS=6, COLS=7)</a:t>
            </a:r>
            <a:endParaRPr lang="en-US" sz="1800" dirty="0"/>
          </a:p>
          <a:p>
            <a:pPr marL="251460" indent="-25146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EMPTY='.'  ,  P1='X'  ,  P2/CPU='O'</a:t>
            </a:r>
            <a:endParaRPr lang="en-US" sz="1800" dirty="0"/>
          </a:p>
          <a:p>
            <a:pPr marL="251460" indent="-25146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עמודה חוקית אם board[0][col] == EMPTY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3703320"/>
            <a:ext cx="5166360" cy="2514600"/>
          </a:xfrm>
          <a:prstGeom prst="rect">
            <a:avLst/>
          </a:prstGeom>
          <a:solidFill>
            <a:srgbClr val="07102A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48920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dropDisc(board, col, disc)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(r = ROWS-1; r &gt;= 0; r--)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(board[r][col] == EMPTY)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board[r][col] = disc;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-1; // full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417320"/>
            <a:ext cx="4828032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99516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קלט משתמש (ולידציה)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1488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קוראים מספר שלם עם scanf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scanf נכשל → מנקים buffer ומבקשים שוב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מחוץ לטווח 1–7 → הודעה וחזרה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העמודה מלאה → הודעה וחזרה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A3A6B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ניצחון ותיקו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סריקה ב-4 כיוונים + בדיקת לוח מלא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0972800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כיווני בדיקה (checkWin):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2423160" cy="1280160"/>
          </a:xfrm>
          <a:prstGeom prst="roundRect">
            <a:avLst/>
          </a:prstGeom>
          <a:solidFill>
            <a:srgbClr val="14214A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05840" y="28620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ימינה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(dr=0, dc=+1)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2423160" cy="1280160"/>
          </a:xfrm>
          <a:prstGeom prst="roundRect">
            <a:avLst/>
          </a:prstGeom>
          <a:solidFill>
            <a:srgbClr val="14214A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66160" y="28620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למטה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(dr=+1, dc=0)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148840"/>
            <a:ext cx="2423160" cy="1280160"/>
          </a:xfrm>
          <a:prstGeom prst="roundRect">
            <a:avLst/>
          </a:prstGeom>
          <a:solidFill>
            <a:srgbClr val="14214A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8620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אלכסון ↘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(dr=+1, dc=+1)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49640" y="2148840"/>
            <a:ext cx="2423160" cy="1280160"/>
          </a:xfrm>
          <a:prstGeom prst="roundRect">
            <a:avLst/>
          </a:prstGeom>
          <a:solidFill>
            <a:srgbClr val="14214A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8686800" y="2286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686800" y="28620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אלכסון ↙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(dr=+1, dc=-1)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7033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 העבודה: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0690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עוברים על כל תא; אם הוא שייך לשחקן — סופרים רצף של עד 4 תאים בכל כיוון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count==4 → ניצחון</a:t>
            </a:r>
            <a:endParaRPr lang="en-US" sz="1800" dirty="0"/>
          </a:p>
          <a:p>
            <a:pPr marL="251460" indent="-251460" algn="r" rtl="1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תיקו: אין מקום להניח דיסק נוסף (כל התאים בשורה העליונה לא ריקים)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A3A6B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מול מחשב: 3 רמות קושי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הגדרה פשוטה, בינונית, וקשה (הרחבה)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0972800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868680" y="1920240"/>
            <a:ext cx="3200400" cy="4206240"/>
          </a:xfrm>
          <a:prstGeom prst="roundRect">
            <a:avLst/>
          </a:prstGeom>
          <a:solidFill>
            <a:srgbClr val="16304E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432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אוספים את כל העמודות החוקיות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בחירה אקראית (rand)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200400" cy="4206240"/>
          </a:xfrm>
          <a:prstGeom prst="roundRect">
            <a:avLst/>
          </a:prstGeom>
          <a:solidFill>
            <a:srgbClr val="143B3A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743200"/>
            <a:ext cx="2560320" cy="1487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יש מהלך מנצח — לשחק אותו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היריב יכול לנצח — לחסום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אחרת: העדפת מרכז / אקראי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1920240"/>
            <a:ext cx="3200400" cy="4206240"/>
          </a:xfrm>
          <a:prstGeom prst="roundRect">
            <a:avLst/>
          </a:prstGeom>
          <a:solidFill>
            <a:srgbClr val="2A1B4A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13816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743200"/>
            <a:ext cx="2560320" cy="1801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בעומק קטן (למשל 4)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ניקוד חלונות של 4</a:t>
            </a:r>
            <a:endParaRPr lang="en-US" sz="1600" dirty="0"/>
          </a:p>
          <a:p>
            <a:pPr marL="223520" indent="-223520" algn="r" rtl="1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לשיפור ביצועים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30"/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2A3A6B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he-IL" sz="3000" b="1" dirty="0">
                <a:solidFill>
                  <a:srgbClr val="EAF0FF"/>
                </a:solidFill>
                <a:latin typeface="Calibri" pitchFamily="34" charset="0"/>
                <a:cs typeface="Calibri" pitchFamily="34" charset="-120"/>
              </a:rPr>
              <a:t>הגשה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 err="1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</a:t>
            </a:r>
            <a:r>
              <a:rPr lang="en-US" sz="1400" dirty="0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9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לקמפל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806440" cy="50749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2200" b="1" dirty="0" err="1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קומפילציה</a:t>
            </a: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והרצה</a:t>
            </a:r>
            <a:r>
              <a:rPr lang="en-US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(MSYS2) -</a:t>
            </a:r>
            <a:r>
              <a:rPr lang="he-IL" sz="22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5166360" cy="2057400"/>
          </a:xfrm>
          <a:prstGeom prst="rect">
            <a:avLst/>
          </a:prstGeom>
          <a:solidFill>
            <a:srgbClr val="07102A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4892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/c/Users/&lt;user&gt;/Desktop/C_PROJECT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main.c game.c ai.c -o connect4.exe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./connect4.exe</a:t>
            </a:r>
            <a:endParaRPr lang="en-US" sz="14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073B71AC-A6AA-BF36-0B6F-183A812CBA12}"/>
              </a:ext>
            </a:extLst>
          </p:cNvPr>
          <p:cNvSpPr/>
          <p:nvPr/>
        </p:nvSpPr>
        <p:spPr>
          <a:xfrm>
            <a:off x="6702263" y="1417320"/>
            <a:ext cx="5233689" cy="4974336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A3A6B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US" b="1" dirty="0" err="1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קומפילציה</a:t>
            </a:r>
            <a:r>
              <a:rPr lang="en-US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והרצה</a:t>
            </a:r>
            <a:r>
              <a:rPr lang="en-US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(VS CODE)-</a:t>
            </a:r>
            <a:r>
              <a:rPr lang="he-IL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1</a:t>
            </a:r>
            <a:endParaRPr lang="en-US" dirty="0"/>
          </a:p>
          <a:p>
            <a:endParaRPr lang="he-IL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08F614D-F2EB-FBFA-20D6-D8019A5E3B67}"/>
              </a:ext>
            </a:extLst>
          </p:cNvPr>
          <p:cNvSpPr/>
          <p:nvPr/>
        </p:nvSpPr>
        <p:spPr>
          <a:xfrm>
            <a:off x="6988599" y="2286000"/>
            <a:ext cx="4654456" cy="2057400"/>
          </a:xfrm>
          <a:prstGeom prst="rect">
            <a:avLst/>
          </a:prstGeom>
          <a:solidFill>
            <a:srgbClr val="07102A"/>
          </a:solidFill>
          <a:ln w="12700">
            <a:solidFill>
              <a:srgbClr val="2A3A6B"/>
            </a:solidFill>
            <a:prstDash val="solid"/>
          </a:ln>
        </p:spPr>
        <p:txBody>
          <a:bodyPr/>
          <a:lstStyle/>
          <a:p>
            <a:r>
              <a:rPr lang="en-US" sz="1600" dirty="0"/>
              <a:t> </a:t>
            </a:r>
            <a:r>
              <a:rPr lang="he-IL" sz="1600" dirty="0">
                <a:solidFill>
                  <a:schemeClr val="bg1">
                    <a:lumMod val="85000"/>
                  </a:schemeClr>
                </a:solidFill>
              </a:rPr>
              <a:t>בטרמינל:</a:t>
            </a:r>
            <a:endParaRPr lang="en-US" sz="1600" dirty="0"/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C:\msys64\ucrt64.exe</a:t>
            </a:r>
            <a:endParaRPr lang="he-IL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687</Words>
  <Application>Microsoft Office PowerPoint</Application>
  <PresentationFormat>מסך רחב</PresentationFormat>
  <Paragraphs>111</Paragraphs>
  <Slides>7</Slides>
  <Notes>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Odelya Datski</cp:lastModifiedBy>
  <cp:revision>7</cp:revision>
  <dcterms:created xsi:type="dcterms:W3CDTF">2025-12-30T09:34:55Z</dcterms:created>
  <dcterms:modified xsi:type="dcterms:W3CDTF">2025-12-30T09:55:40Z</dcterms:modified>
</cp:coreProperties>
</file>